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0515600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400" b="1">
                <a:solidFill>
                  <a:srgbClr val="FFFFFF"/>
                </a:solidFill>
              </a:rPr>
              <a:t>AI-Driven Behavioural Anomaly Detection</a:t>
            </a:r>
          </a:p>
          <a:p>
            <a:pPr algn="l"/>
            <a:r>
              <a:rPr sz="3400" b="1">
                <a:solidFill>
                  <a:srgbClr val="FFFFFF"/>
                </a:solidFill>
              </a:rPr>
              <a:t>for V2X Communications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2600" b="1">
                <a:solidFill>
                  <a:srgbClr val="CC9900"/>
                </a:solidFill>
              </a:rPr>
              <a:t>Spatio-Temporal Graph Attention Transformer</a:t>
            </a:r>
          </a:p>
          <a:p>
            <a:pPr algn="l"/>
            <a:r>
              <a:rPr sz="2600" b="1">
                <a:solidFill>
                  <a:srgbClr val="CC9900"/>
                </a:solidFill>
              </a:rPr>
              <a:t>(ST-GAT) with Targeted Fine-Tuning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20440"/>
            <a:ext cx="100584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8229600" cy="2194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Mostafa Mohamed Atef</a:t>
            </a:r>
          </a:p>
          <a:p>
            <a:pPr algn="l"/>
            <a:r>
              <a:rPr sz="1800" b="0">
                <a:solidFill>
                  <a:srgbClr val="CC9900"/>
                </a:solidFill>
              </a:rPr>
              <a:t>AI / Machine Learning Engineer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600" b="1">
                <a:solidFill>
                  <a:srgbClr val="D6E5F4"/>
                </a:solidFill>
              </a:rPr>
              <a:t>Egypt-Japan University of Science and Technology (E-JUST)</a:t>
            </a:r>
          </a:p>
          <a:p>
            <a:pPr algn="l"/>
            <a:r>
              <a:rPr sz="1600" b="0">
                <a:solidFill>
                  <a:srgbClr val="D6E5F4"/>
                </a:solidFill>
              </a:rPr>
              <a:t>Faculty of Computer Science and Information Technology</a:t>
            </a:r>
          </a:p>
          <a:p>
            <a:pPr algn="l"/>
            <a:r>
              <a:rPr sz="1400" b="0">
                <a:solidFill>
                  <a:srgbClr val="8C8C8C"/>
                </a:solidFill>
              </a:rPr>
              <a:t>Graduation Project —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3840480"/>
            <a:ext cx="2331720" cy="1645920"/>
          </a:xfrm>
          <a:prstGeom prst="roundRect">
            <a:avLst/>
          </a:prstGeom>
          <a:solidFill>
            <a:srgbClr val="CC99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3366"/>
                </a:solidFill>
              </a:rPr>
              <a:t>AI / IDS</a:t>
            </a:r>
          </a:p>
          <a:p>
            <a:pPr algn="ctr"/>
            <a:r>
              <a:rPr sz="1800" b="1">
                <a:solidFill>
                  <a:srgbClr val="003366"/>
                </a:solidFill>
              </a:rPr>
              <a:t>Component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02920" cy="594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887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188720"/>
            <a:ext cx="10789920" cy="594360"/>
          </a:xfrm>
          <a:prstGeom prst="rect">
            <a:avLst/>
          </a:prstGeom>
          <a:solidFill>
            <a:srgbClr val="D6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3366"/>
                </a:solidFill>
              </a:rPr>
              <a:t>Motivation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Why AI is needed alongside post-quantum cryptography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93392"/>
            <a:ext cx="502920" cy="59436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933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1993392"/>
            <a:ext cx="10789920" cy="594360"/>
          </a:xfrm>
          <a:prstGeom prst="rect">
            <a:avLst/>
          </a:prstGeom>
          <a:solidFill>
            <a:srgbClr val="D6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3366"/>
                </a:solidFill>
              </a:rPr>
              <a:t>Dataset &amp; Features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VeReMi NextGen (619,097 BSMs) + 15-feature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98064"/>
            <a:ext cx="502920" cy="594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9806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798064"/>
            <a:ext cx="10789920" cy="594360"/>
          </a:xfrm>
          <a:prstGeom prst="rect">
            <a:avLst/>
          </a:prstGeom>
          <a:solidFill>
            <a:srgbClr val="D6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3366"/>
                </a:solidFill>
              </a:rPr>
              <a:t>ST-GAT Architecture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4-stream model: Transformer + iTransformer + GAT + MLP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02736"/>
            <a:ext cx="502920" cy="59436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60273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602736"/>
            <a:ext cx="10789920" cy="594360"/>
          </a:xfrm>
          <a:prstGeom prst="rect">
            <a:avLst/>
          </a:prstGeom>
          <a:solidFill>
            <a:srgbClr val="D6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3366"/>
                </a:solidFill>
              </a:rPr>
              <a:t>Training Strategy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Focal Loss + vehicle-stratified split + targeted fine-tune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07408"/>
            <a:ext cx="502920" cy="594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40740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407408"/>
            <a:ext cx="10789920" cy="594360"/>
          </a:xfrm>
          <a:prstGeom prst="rect">
            <a:avLst/>
          </a:prstGeom>
          <a:solidFill>
            <a:srgbClr val="D6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3366"/>
                </a:solidFill>
              </a:rPr>
              <a:t>Results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F1 = 0.9913, MCC = 0.8699, AUC = 0.9923, 14/14 attacks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12080"/>
            <a:ext cx="502920" cy="59436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2120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5212080"/>
            <a:ext cx="10789920" cy="594360"/>
          </a:xfrm>
          <a:prstGeom prst="rect">
            <a:avLst/>
          </a:prstGeom>
          <a:solidFill>
            <a:srgbClr val="D6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3366"/>
                </a:solidFill>
              </a:rPr>
              <a:t>Framework Integration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ST-GAT as behavioural layer of the PQA-SCMS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Why Do We Need AI on Top of Cryptography?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Cryptography verifies WHO sent the message — AI verifies WHETHER the content is physically plausible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PQA-SCMS Layer  (Team's Cryptographic Work)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54480"/>
            <a:ext cx="5577840" cy="2743200"/>
          </a:xfrm>
          <a:prstGeom prst="rect">
            <a:avLst/>
          </a:prstGeom>
          <a:solidFill>
            <a:srgbClr val="D6E5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05000"/>
                </a:solidFill>
              </a:rPr>
              <a:t>✔  Dilithium-2 for long-lived certificates</a:t>
            </a:r>
          </a:p>
          <a:p>
            <a:pPr algn="l"/>
            <a:r>
              <a:rPr sz="1500" b="0">
                <a:solidFill>
                  <a:srgbClr val="005000"/>
                </a:solidFill>
              </a:rPr>
              <a:t>✔  ECDSA retained for high-frequency CAMs</a:t>
            </a:r>
          </a:p>
          <a:p>
            <a:pPr algn="l"/>
            <a:r>
              <a:rPr sz="1500" b="0">
                <a:solidFill>
                  <a:srgbClr val="005000"/>
                </a:solidFill>
              </a:rPr>
              <a:t>✔  Kyber-768 for session key exchange</a:t>
            </a:r>
          </a:p>
          <a:p>
            <a:pPr algn="l"/>
            <a:r>
              <a:rPr sz="1500" b="0">
                <a:solidFill>
                  <a:srgbClr val="005000"/>
                </a:solidFill>
              </a:rPr>
              <a:t>✔  100% replay &amp; signature-forgery detection</a:t>
            </a:r>
          </a:p>
          <a:p>
            <a:pPr algn="l"/>
            <a:r>
              <a:rPr sz="1500" b="0">
                <a:solidFill>
                  <a:srgbClr val="005000"/>
                </a:solidFill>
              </a:rPr>
              <a:t>✔  97.4% overhead reduction vs full PQC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500" b="1">
                <a:solidFill>
                  <a:srgbClr val="C00000"/>
                </a:solidFill>
              </a:rPr>
              <a:t>⚠  Cannot detect content falsification by a vehicle</a:t>
            </a:r>
          </a:p>
          <a:p>
            <a:pPr algn="l"/>
            <a:r>
              <a:rPr sz="1500" b="1">
                <a:solidFill>
                  <a:srgbClr val="C00000"/>
                </a:solidFill>
              </a:rPr>
              <a:t>    with a VALID post-quantum credential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71500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14300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ST-GAT AI-IDS Layer  (This Work)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554480"/>
            <a:ext cx="5715000" cy="27432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82828"/>
                </a:solidFill>
              </a:rPr>
              <a:t>✔  Analyses behavioural patterns in BSM content</a:t>
            </a:r>
          </a:p>
          <a:p>
            <a:pPr algn="l"/>
            <a:r>
              <a:rPr sz="1500" b="0">
                <a:solidFill>
                  <a:srgbClr val="282828"/>
                </a:solidFill>
              </a:rPr>
              <a:t>✔  Detects 14 attack types simultaneously</a:t>
            </a:r>
          </a:p>
          <a:p>
            <a:pPr algn="l"/>
            <a:r>
              <a:rPr sz="1500" b="0">
                <a:solidFill>
                  <a:srgbClr val="282828"/>
                </a:solidFill>
              </a:rPr>
              <a:t>✔  Position / speed / kinematic falsification</a:t>
            </a:r>
          </a:p>
          <a:p>
            <a:pPr algn="l"/>
            <a:r>
              <a:rPr sz="1500" b="0">
                <a:solidFill>
                  <a:srgbClr val="282828"/>
                </a:solidFill>
              </a:rPr>
              <a:t>✔  Sybil coordination attacks</a:t>
            </a:r>
          </a:p>
          <a:p>
            <a:pPr algn="l"/>
            <a:r>
              <a:rPr sz="1500" b="0">
                <a:solidFill>
                  <a:srgbClr val="282828"/>
                </a:solidFill>
              </a:rPr>
              <a:t>✔  Timing manipulation</a:t>
            </a:r>
          </a:p>
          <a:p>
            <a:pPr algn="l"/>
            <a:r>
              <a:rPr sz="1500" b="0">
                <a:solidFill>
                  <a:srgbClr val="282828"/>
                </a:solidFill>
              </a:rPr>
              <a:t>✔  DoS flooding</a:t>
            </a:r>
          </a:p>
          <a:p>
            <a:pPr algn="l"/>
            <a:r>
              <a:rPr sz="1500" b="0">
                <a:solidFill>
                  <a:srgbClr val="282828"/>
                </a:solidFill>
              </a:rPr>
              <a:t>✔  23.4 ms inference — real-time compatible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572000"/>
            <a:ext cx="11612880" cy="640080"/>
          </a:xfrm>
          <a:prstGeom prst="roundRect">
            <a:avLst/>
          </a:prstGeom>
          <a:solidFill>
            <a:srgbClr val="FFF8DC"/>
          </a:solidFill>
          <a:ln w="3175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03366"/>
                </a:solidFill>
              </a:rPr>
              <a:t>Key Insight:  Cryptography  →  proves WHO sent it     AI-IDS  →  proves the content is physically possible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V2X Attack Landscape — 14 Attack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Each category requires a different signal modality → motivates the 4-stream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224028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Position
Falsification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2240280" cy="2926080"/>
          </a:xfrm>
          <a:prstGeom prst="rect">
            <a:avLst/>
          </a:prstGeom>
          <a:solidFill>
            <a:srgbClr val="D6E5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• constantPositionOffset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randomPositionOffset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positionMirroring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709160"/>
            <a:ext cx="2240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091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Signal: Kinematic cross-check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4328" y="1143000"/>
            <a:ext cx="2240280" cy="64008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11430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Speed
Falsification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4328" y="1783080"/>
            <a:ext cx="2240280" cy="2926080"/>
          </a:xfrm>
          <a:prstGeom prst="rect">
            <a:avLst/>
          </a:prstGeom>
          <a:solidFill>
            <a:srgbClr val="D6E5F4"/>
          </a:solidFill>
          <a:ln w="19050">
            <a:solidFill>
              <a:srgbClr val="1F7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• randomSpeedOffset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zeroSpeedReport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suddenConstantSpeed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suddenStop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4328" y="4709160"/>
            <a:ext cx="2240280" cy="54864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47091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Signal: Speed vs displacement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4336" y="1143000"/>
            <a:ext cx="2240280" cy="64008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4336" y="11430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Kinematic
Inconsistency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4336" y="1783080"/>
            <a:ext cx="2240280" cy="2926080"/>
          </a:xfrm>
          <a:prstGeom prst="rect">
            <a:avLst/>
          </a:prstGeom>
          <a:solidFill>
            <a:srgbClr val="D6E5F4"/>
          </a:solidFill>
          <a:ln w="19050">
            <a:solidFill>
              <a:srgbClr val="00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• feignedBraking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accelerationMultiplication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reversedHeading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4336" y="4709160"/>
            <a:ext cx="2240280" cy="548640"/>
          </a:xfrm>
          <a:prstGeom prst="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4336" y="47091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Signal: Multi-sensor consistency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24344" y="1143000"/>
            <a:ext cx="2240280" cy="640080"/>
          </a:xfrm>
          <a:prstGeom prst="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4344" y="11430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Timing
Manipulation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24344" y="1783080"/>
            <a:ext cx="2240280" cy="2926080"/>
          </a:xfrm>
          <a:prstGeom prst="rect">
            <a:avLst/>
          </a:prstGeom>
          <a:solidFill>
            <a:srgbClr val="D6E5F4"/>
          </a:solidFill>
          <a:ln w="19050">
            <a:solidFill>
              <a:srgbClr val="D2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• timeDelayAttack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dataReplay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24344" y="4709160"/>
            <a:ext cx="2240280" cy="548640"/>
          </a:xfrm>
          <a:prstGeom prst="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24344" y="47091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Signal: Inter-message gap pattern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143000"/>
            <a:ext cx="224028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4352" y="11430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Coordination
&amp; 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74352" y="1783080"/>
            <a:ext cx="2240280" cy="2926080"/>
          </a:xfrm>
          <a:prstGeom prst="rect">
            <a:avLst/>
          </a:prstGeom>
          <a:solidFill>
            <a:srgbClr val="D6E5F4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• trafficCongestionSybil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• dosAttack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74352" y="4709160"/>
            <a:ext cx="224028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47091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Signal: Multi-vehicle spatial context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303520"/>
            <a:ext cx="11612880" cy="50292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3035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366"/>
                </a:solidFill>
              </a:rPr>
              <a:t>⚠  No single feature representation covers all 14 categories — this is why ST-GAT uses 4 parallel specialised streams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Dataset: VeReMi NextGen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SUMO-simulated highway scenario — 619,097 BSMs across 14 attack types + normal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 &amp; Split Statistics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1554480"/>
          <a:ext cx="53949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Total BSMs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619,097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Attack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14 + 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Highway (SUMO)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624 m × 2,560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Spatial cells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23 unique (300 m grid)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Window size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20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Stride 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3 (75% overlap)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Split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3-way vehicle-ID-stratified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Train senders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~303  |  ~122,047 windows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Val senders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~34   |  ~13,554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Test senders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~85   |  ~33,925 windows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Normal upsampling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TARGET_NORMAL_FRAC =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1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Attack ratio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93.6% of windows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989320" y="1143000"/>
            <a:ext cx="589788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14300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Class Imbalance Challenge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554480"/>
            <a:ext cx="5897880" cy="219456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C00000"/>
                </a:solidFill>
              </a:rPr>
              <a:t>93.6% of all windows are labelled "attack"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282828"/>
                </a:solidFill>
              </a:rPr>
              <a:t>A trivial "always predict attack" classifier:</a:t>
            </a:r>
          </a:p>
          <a:p>
            <a:pPr algn="l"/>
            <a:r>
              <a:rPr sz="1400" b="0">
                <a:solidFill>
                  <a:srgbClr val="282828"/>
                </a:solidFill>
              </a:rPr>
              <a:t>  Accuracy  = 93.6%  ← looks great</a:t>
            </a:r>
          </a:p>
          <a:p>
            <a:pPr algn="l"/>
            <a:r>
              <a:rPr sz="1400" b="0">
                <a:solidFill>
                  <a:srgbClr val="282828"/>
                </a:solidFill>
              </a:rPr>
              <a:t>  F1 Score  = 0.967  ← looks great</a:t>
            </a:r>
          </a:p>
          <a:p>
            <a:pPr algn="l"/>
            <a:r>
              <a:rPr sz="1400" b="1">
                <a:solidFill>
                  <a:srgbClr val="C00000"/>
                </a:solidFill>
              </a:rPr>
              <a:t>  MCC       = 0.000  ← useless!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794760"/>
            <a:ext cx="589788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379476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4206240"/>
            <a:ext cx="5897880" cy="1828800"/>
          </a:xfrm>
          <a:prstGeom prst="rect">
            <a:avLst/>
          </a:prstGeom>
          <a:solidFill>
            <a:srgbClr val="C6EFCE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82828"/>
                </a:solidFill>
              </a:rPr>
              <a:t>Primary reliability metric: Matthews Correlation</a:t>
            </a:r>
          </a:p>
          <a:p>
            <a:pPr algn="l"/>
            <a:r>
              <a:rPr sz="1400" b="0">
                <a:solidFill>
                  <a:srgbClr val="282828"/>
                </a:solidFill>
              </a:rPr>
              <a:t>Coefficient (MCC) — immune to class imbalance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600" b="1">
                <a:solidFill>
                  <a:srgbClr val="005000"/>
                </a:solidFill>
              </a:rPr>
              <a:t>Our ST-GAT achieves  MCC = 0.8699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(compared to MCC = 0 for trivial classifier)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Normal upsampling: reduces effective weight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from 14.6× to ~3× — stabilises gradients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Feature Engineering: 10 Raw + 5 Physics + 8 Aggregates = Rich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3749039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 Raw BSM Fields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554480"/>
          <a:ext cx="374903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x, 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UTM position (m)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Speed (m/s)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φ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Heading (rad)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Acceleration (m/s²)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Δt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Inter-message gap (s)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η_x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Position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η_v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Speed noise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η_φ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Heading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η_a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Accel noise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251960" y="1143000"/>
            <a:ext cx="4023360" cy="41148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143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+ 5 Physics-Based Features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251960" y="1554480"/>
          <a:ext cx="4023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72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Detects</a:t>
                      </a:r>
                    </a:p>
                  </a:txBody>
                  <a:tcPr>
                    <a:solidFill>
                      <a:srgbClr val="1F72C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Kinematic error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Position drift vs. kinematic model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Speed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Pos-implied speed vs.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Heading consistency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Movement dir vs. reported heading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Accel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Speed-delta accel vs.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Spatial density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Unique vehicles in 300m × 300m / 0.5s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8503920" y="1143000"/>
            <a:ext cx="3429000" cy="411480"/>
          </a:xfrm>
          <a:prstGeom prst="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1430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+ 8 Window Aggregates (Stream D)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503920" y="1554480"/>
          <a:ext cx="3429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Aggregate</a:t>
                      </a:r>
                    </a:p>
                  </a:txBody>
                  <a:tcPr>
                    <a:solidFill>
                      <a:srgbClr val="D26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Attack Signal</a:t>
                      </a:r>
                    </a:p>
                  </a:txBody>
                  <a:tcPr>
                    <a:solidFill>
                      <a:srgbClr val="D2640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max(Δt)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Gap max → timeDelay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σ(Δt)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Gap std → irregularity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μ(Δt)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Gap mean → rate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max(kin_err)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Kinematic spike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max(pos_noise)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Position noise peak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max(accel_err)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Accel inconsistency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max(head_err)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Heading inconsistency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max(density)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Sybil density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274320" y="5669280"/>
            <a:ext cx="11612880" cy="45720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6692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3366"/>
                </a:solidFill>
              </a:rPr>
              <a:t>All inputs are z-scored (StandardScaler fitted on training data only — no val/test leakage). Window aggregates recomputed from scaled sequences.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ST-GAT Architecture — 4-Stream Parallel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Each stream specialises for one signal modality; outputs are fused into a single 384-d vector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88720"/>
            <a:ext cx="2651760" cy="502920"/>
          </a:xfrm>
          <a:prstGeom prst="roundRect">
            <a:avLst/>
          </a:prstGeom>
          <a:solidFill>
            <a:srgbClr val="D6E5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366"/>
                </a:solidFill>
              </a:rPr>
              <a:t>Sequence
(20×15)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83080"/>
            <a:ext cx="265176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Stream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2651760" cy="2514600"/>
          </a:xfrm>
          <a:prstGeom prst="rect">
            <a:avLst/>
          </a:prstGeom>
          <a:solidFill>
            <a:srgbClr val="D6E5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94560"/>
            <a:ext cx="2651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82828"/>
                </a:solidFill>
              </a:rPr>
              <a:t>3× Transformer
Encoder Blocks
4-head MHA
over time steps
Captures temporal
dynamics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00600"/>
            <a:ext cx="2651760" cy="5029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00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e_A ∈ ℝ¹²⁸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10512" y="1691640"/>
            <a:ext cx="36576" cy="91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73936" y="1728216"/>
            <a:ext cx="109728" cy="109728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10512" y="4709160"/>
            <a:ext cx="36576" cy="91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73936" y="4745736"/>
            <a:ext cx="109728" cy="109728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37560" y="1188720"/>
            <a:ext cx="2651760" cy="502920"/>
          </a:xfrm>
          <a:prstGeom prst="roundRect">
            <a:avLst/>
          </a:prstGeom>
          <a:solidFill>
            <a:srgbClr val="D2E6FF"/>
          </a:solidFill>
          <a:ln w="19050">
            <a:solidFill>
              <a:srgbClr val="1F7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1188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72C7"/>
                </a:solidFill>
              </a:rPr>
              <a:t>Last BSM
(15 features)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1783080"/>
            <a:ext cx="2651760" cy="41148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1783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Stream 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194560"/>
            <a:ext cx="2651760" cy="2514600"/>
          </a:xfrm>
          <a:prstGeom prst="rect">
            <a:avLst/>
          </a:prstGeom>
          <a:solidFill>
            <a:srgbClr val="D2E6FF"/>
          </a:solidFill>
          <a:ln w="19050">
            <a:solidFill>
              <a:srgbClr val="1F7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194560"/>
            <a:ext cx="2651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82828"/>
                </a:solidFill>
              </a:rPr>
              <a:t>iTransformer
MHA over
feature dims
Captures feature
cross-correlations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4800600"/>
            <a:ext cx="2651760" cy="502920"/>
          </a:xfrm>
          <a:prstGeom prst="round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4800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e_B ∈ ℝ⁶⁴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91640"/>
            <a:ext cx="36576" cy="9144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08576" y="1728216"/>
            <a:ext cx="109728" cy="109728"/>
          </a:xfrm>
          <a:prstGeom prst="round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45152" y="4709160"/>
            <a:ext cx="36576" cy="9144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08576" y="4745736"/>
            <a:ext cx="109728" cy="109728"/>
          </a:xfrm>
          <a:prstGeom prst="round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1188720"/>
            <a:ext cx="2651760" cy="502920"/>
          </a:xfrm>
          <a:prstGeom prst="roundRect">
            <a:avLst/>
          </a:prstGeom>
          <a:solidFill>
            <a:srgbClr val="C3EBD7"/>
          </a:solidFill>
          <a:ln w="1905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1188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450"/>
                </a:solidFill>
              </a:rPr>
              <a:t>Neighbours
(8×15)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783080"/>
            <a:ext cx="2651760" cy="41148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783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Stream 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194560"/>
            <a:ext cx="2651760" cy="2514600"/>
          </a:xfrm>
          <a:prstGeom prst="rect">
            <a:avLst/>
          </a:prstGeom>
          <a:solidFill>
            <a:srgbClr val="C3EBD7"/>
          </a:solidFill>
          <a:ln w="1905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194560"/>
            <a:ext cx="2651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82828"/>
                </a:solidFill>
              </a:rPr>
              <a:t>2-Layer Graph
Attention Network
Layer 1: q = e_A
Layer 2: q = h_1
Spatial coordination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800600"/>
            <a:ext cx="2651760" cy="502920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800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e_C ∈ ℝ¹²⁸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9792" y="1691640"/>
            <a:ext cx="36576" cy="9144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43216" y="1728216"/>
            <a:ext cx="109728" cy="109728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79792" y="4709160"/>
            <a:ext cx="36576" cy="9144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43216" y="4745736"/>
            <a:ext cx="109728" cy="109728"/>
          </a:xfrm>
          <a:prstGeom prst="round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06840" y="1188720"/>
            <a:ext cx="2651760" cy="502920"/>
          </a:xfrm>
          <a:prstGeom prst="roundRect">
            <a:avLst/>
          </a:prstGeom>
          <a:solidFill>
            <a:srgbClr val="FFEB9C"/>
          </a:solidFill>
          <a:ln w="19050">
            <a:solidFill>
              <a:srgbClr val="D2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1188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26400"/>
                </a:solidFill>
              </a:rPr>
              <a:t>Window
Aggregates (8)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1783080"/>
            <a:ext cx="2651760" cy="411480"/>
          </a:xfrm>
          <a:prstGeom prst="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40" y="1783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Stream 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2194560"/>
            <a:ext cx="2651760" cy="2514600"/>
          </a:xfrm>
          <a:prstGeom prst="rect">
            <a:avLst/>
          </a:prstGeom>
          <a:solidFill>
            <a:srgbClr val="FFEB9C"/>
          </a:solidFill>
          <a:ln w="19050">
            <a:solidFill>
              <a:srgbClr val="D2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2194560"/>
            <a:ext cx="2651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82828"/>
                </a:solidFill>
              </a:rPr>
              <a:t>Window Aggregate
MLP
Dense(64,GELU)
× 2
Direct attack
fingerprints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06840" y="4800600"/>
            <a:ext cx="2651760" cy="502920"/>
          </a:xfrm>
          <a:prstGeom prst="round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4800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e_D ∈ ℝ⁶⁴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14432" y="1691640"/>
            <a:ext cx="36576" cy="91440"/>
          </a:xfrm>
          <a:prstGeom prst="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277856" y="1728216"/>
            <a:ext cx="109728" cy="109728"/>
          </a:xfrm>
          <a:prstGeom prst="round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14432" y="4709160"/>
            <a:ext cx="36576" cy="91440"/>
          </a:xfrm>
          <a:prstGeom prst="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277856" y="4745736"/>
            <a:ext cx="109728" cy="109728"/>
          </a:xfrm>
          <a:prstGeom prst="round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20040" y="5440680"/>
            <a:ext cx="11521440" cy="502920"/>
          </a:xfrm>
          <a:prstGeom prst="round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544068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</a:rPr>
              <a:t>Concatenate:  [ e_A ‖ e_B ‖ e_C ‖ e_D ]  ∈  ℝ^(128+64+128+64)  =  ℝ³⁸⁴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0" y="6035040"/>
            <a:ext cx="4846320" cy="47548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60350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Dense(128) → Dense(64) → Dense(1, σ) → anomaly score  p̂ ∈ [0, 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Streams A &amp; B — Temporal and Feature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Stream A — Temporal Transformer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5577840" cy="2377440"/>
          </a:xfrm>
          <a:prstGeom prst="rect">
            <a:avLst/>
          </a:prstGeom>
          <a:solidFill>
            <a:srgbClr val="D6E5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Input:  X ∈ ℝ²⁰ˣ¹⁵  (20-message per-vehicle sequence)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Linear projection → ℝ²⁰ˣ¹²⁸  +  LayerNorm</a:t>
            </a:r>
          </a:p>
          <a:p>
            <a:pPr algn="l"/>
            <a:r>
              <a:rPr sz="1300" b="1">
                <a:solidFill>
                  <a:srgbClr val="282828"/>
                </a:solidFill>
              </a:rPr>
              <a:t>3 × Transformer Encoder Block: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• 4-head Multi-Head Self-Attention  (d_k = 32)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• FFN: Dense(256, GELU) → Dense(128)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• Residual + LayerNorm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GlobalAveragePooling  →  e_A ∈ ℝ¹²⁸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77639"/>
            <a:ext cx="557784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97763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What It Detects: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389120"/>
            <a:ext cx="5577840" cy="1463040"/>
          </a:xfrm>
          <a:prstGeom prst="rect">
            <a:avLst/>
          </a:prstGeom>
          <a:solidFill>
            <a:srgbClr val="C6EFCE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05000"/>
                </a:solidFill>
              </a:rPr>
              <a:t>✔  constantPositionOffset — gradual trajectory drift over 20 steps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✔  dataReplay — periodic pattern repetition in the sequence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✔  suddenStop / suddenConstantSpeed — velocity discontinuity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✔  feignedBraking — abrupt unphysical deceleration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43000"/>
            <a:ext cx="5715000" cy="411480"/>
          </a:xfrm>
          <a:prstGeom prst="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14300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Stream B — Feature Attention (iTransformer Style)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554480"/>
            <a:ext cx="5715000" cy="2377440"/>
          </a:xfrm>
          <a:prstGeom prst="rect">
            <a:avLst/>
          </a:prstGeom>
          <a:solidFill>
            <a:srgbClr val="D2E6FF"/>
          </a:solidFill>
          <a:ln w="19050">
            <a:solidFill>
              <a:srgbClr val="1F7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Input:  x_T ∈ ℝ¹⁵  (last message only)</a:t>
            </a:r>
          </a:p>
          <a:p>
            <a:pPr algn="l"/>
            <a:r>
              <a:rPr sz="1300" b="1">
                <a:solidFill>
                  <a:srgbClr val="282828"/>
                </a:solidFill>
              </a:rPr>
              <a:t>Treat each of the 15 feature dims as a token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Project each feature → ℝ⁶⁴</a:t>
            </a:r>
          </a:p>
          <a:p>
            <a:pPr algn="l"/>
            <a:r>
              <a:rPr sz="1300" b="1">
                <a:solidFill>
                  <a:srgbClr val="282828"/>
                </a:solidFill>
              </a:rPr>
              <a:t>2-head MHA across the FEATURE axis (not time!)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• Learns which features co-vary anomalously</a:t>
            </a:r>
          </a:p>
          <a:p>
            <a:pPr algn="l"/>
            <a:r>
              <a:rPr sz="1300" b="1">
                <a:solidFill>
                  <a:srgbClr val="1F72C7"/>
                </a:solidFill>
              </a:rPr>
              <a:t>LayerNorm + GlobalAveragePool  →  e_B ∈ ℝ⁶⁴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977639"/>
            <a:ext cx="571500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977639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What It Detects: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389120"/>
            <a:ext cx="5715000" cy="1463040"/>
          </a:xfrm>
          <a:prstGeom prst="rect">
            <a:avLst/>
          </a:prstGeom>
          <a:solidFill>
            <a:srgbClr val="C6EFCE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05000"/>
                </a:solidFill>
              </a:rPr>
              <a:t>✔  High reported speed + tiny position displacement (contradictory)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✔  Large acceleration + tiny speed-noise channel (inconsistent sensors)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✔  Any joint anomaly across sensor fields invisible per-feature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✔  Helps on positionMirroring, randomSpeedOffset, reversedHeading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Streams C &amp; D — Graph Attention and Attack Fingerprints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Stream C — 2-Layer Graph Attention Network (GAT)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5577840" cy="2560320"/>
          </a:xfrm>
          <a:prstGeom prst="rect">
            <a:avLst/>
          </a:prstGeom>
          <a:solidFill>
            <a:srgbClr val="C3EBD7"/>
          </a:solidFill>
          <a:ln w="1905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Input:  N ∈ ℝ⁸ˣ¹⁵  (up to 8 co-located neighbours, 300m/0.5s)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Adjacency mask a prevents zero-padded slots from attending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282828"/>
                </a:solidFill>
              </a:rPr>
              <a:t>GAT Layer 1:  query = e_A,  keys/values = N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            h₁ = LayerNorm(e_A + MHA₁(e_A, N, a))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282828"/>
                </a:solidFill>
              </a:rPr>
              <a:t>GAT Layer 2:  query = h₁,  keys/values = N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            e_C = LayerNorm(h₁ + MHA₂(h₁, N, a)) ∈ ℝ¹²⁸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60520"/>
            <a:ext cx="557784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1605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What It Detects: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72000"/>
            <a:ext cx="5577840" cy="1280160"/>
          </a:xfrm>
          <a:prstGeom prst="rect">
            <a:avLst/>
          </a:prstGeom>
          <a:solidFill>
            <a:srgbClr val="C6EFCE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05000"/>
                </a:solidFill>
              </a:rPr>
              <a:t>✔  trafficCongestionSybil — multiple phantoms in same 300m cell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  (invisible to per-vehicle analysis; only detectable via graph)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✔  Layer 2 integrates spatial context with vehicle's own dynamics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43000"/>
            <a:ext cx="5715000" cy="411480"/>
          </a:xfrm>
          <a:prstGeom prst="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14300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Stream D — Window Aggregate MLP  (Attack Fingerprints)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554480"/>
            <a:ext cx="5715000" cy="2560320"/>
          </a:xfrm>
          <a:prstGeom prst="rect">
            <a:avLst/>
          </a:prstGeom>
          <a:solidFill>
            <a:srgbClr val="FFEB9C"/>
          </a:solidFill>
          <a:ln w="19050">
            <a:solidFill>
              <a:srgbClr val="D2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82828"/>
                </a:solidFill>
              </a:rPr>
              <a:t>Input:  w ∈ ℝ⁸  (pre-computed window statistics)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  max(Δt), σ(Δt), μ(Δt)  ←  inter-message gap fingerprint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max(kin_err), max(pos_noise), max(accel_err),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max(head_err), max(spatial_density)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282828"/>
                </a:solidFill>
              </a:rPr>
              <a:t>Dense(64, GELU) → Dropout → Dense(64, GELU) → e_D ∈ ℝ⁶⁴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D26400"/>
                </a:solidFill>
              </a:rPr>
              <a:t>Key idea: reduce timeDelayAttack detection to a THRESHOLD,</a:t>
            </a:r>
          </a:p>
          <a:p>
            <a:pPr algn="l"/>
            <a:r>
              <a:rPr sz="1300" b="0">
                <a:solidFill>
                  <a:srgbClr val="D26400"/>
                </a:solidFill>
              </a:rPr>
              <a:t>not a temporal discovery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60520"/>
            <a:ext cx="5715000" cy="1645920"/>
          </a:xfrm>
          <a:prstGeom prst="roundRect">
            <a:avLst/>
          </a:prstGeom>
          <a:solidFill>
            <a:srgbClr val="FFF0F0"/>
          </a:solidFill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C00000"/>
                </a:solidFill>
              </a:rPr>
              <a:t>Stream D Ablation — timeDelayAttack Recall: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500" b="0">
                <a:solidFill>
                  <a:srgbClr val="C00000"/>
                </a:solidFill>
              </a:rPr>
              <a:t>  Without Stream D  →  Recall = 0.14   (86% miss rate)</a:t>
            </a:r>
          </a:p>
          <a:p>
            <a:pPr algn="l"/>
            <a:r>
              <a:rPr sz="1500" b="1">
                <a:solidFill>
                  <a:srgbClr val="005000"/>
                </a:solidFill>
              </a:rPr>
              <a:t>  With Stream D     →  Recall = 0.8776 (12% miss rate)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Stream D provides an 82-point recall improvement on this attack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Training Strategy: Two-Stage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Stage 1: Vehicle-stratified split + Weighted Focal Loss  →  Stage 2: Targeted Fine-Tuning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88720"/>
            <a:ext cx="5394960" cy="3474720"/>
          </a:xfrm>
          <a:prstGeom prst="roundRect">
            <a:avLst/>
          </a:prstGeom>
          <a:solidFill>
            <a:srgbClr val="D6E5F4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Stage 1  —  Weighted Focal Training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Split:      3-way vehicle-ID-stratified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          (train 72% / val 8% / test 20%)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Upsample:   normal to 25% of training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          (effective weight ~3× vs 14.6× raw)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Optimizer:  Adam  lr = 1e-3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EarlyStopping:  patience = 15  (validation_data=)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ReduceLROnPlateau:  factor = 0.5,  patience = 7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Focal Loss:  ℒ = −α_t(1−p_t)^γ log(p_t)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γ = 2.0,  α = 0.75 for attacks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400" b="1">
                <a:solidFill>
                  <a:srgbClr val="003366"/>
                </a:solidFill>
              </a:rPr>
              <a:t>Per-attack sample weights: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timeDelayAttack      ×25.0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trafficCongestionSybil  ×20.0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999232"/>
            <a:ext cx="548640" cy="36576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2962656"/>
            <a:ext cx="109728" cy="109728"/>
          </a:xfrm>
          <a:prstGeom prst="round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2999232"/>
            <a:ext cx="365760" cy="36576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43016" y="2962656"/>
            <a:ext cx="109728" cy="109728"/>
          </a:xfrm>
          <a:prstGeom prst="round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32120" y="2651760"/>
            <a:ext cx="868680" cy="73152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65176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FT
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188720"/>
            <a:ext cx="5349240" cy="347472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00000"/>
                </a:solidFill>
              </a:rPr>
              <a:t>Stage 2  —  Targeted Fine-Tune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Motivation: timeDelayAttack is primary residual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hard class (confirmed by per-class BCE diagnostic)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1.  Print per-class BCE to confirm hard class</a:t>
            </a:r>
          </a:p>
          <a:p>
            <a:pPr algn="l"/>
            <a:r>
              <a:rPr sz="1300" b="1">
                <a:solidFill>
                  <a:srgbClr val="282828"/>
                </a:solidFill>
              </a:rPr>
              <a:t>2.  Boost timeDelayAttack sample weight × 5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3.  Fine-tune: 30 epochs, lr = 1e-4</a:t>
            </a:r>
          </a:p>
          <a:p>
            <a:pPr algn="l"/>
            <a:r>
              <a:rPr sz="1300" b="0">
                <a:solidFill>
                  <a:srgbClr val="003366"/>
                </a:solidFill>
              </a:rPr>
              <a:t>    Focal γ = 2.0, α = 0.75, patience = 10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    validation_data = (clean val set)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Lower lr prevents forgetting Stage-1 knowledge.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Same focal params maintain gradient stability.</a:t>
            </a:r>
          </a:p>
          <a:p>
            <a:pPr algn="l"/>
            <a:r>
              <a:rPr sz="1300" b="1">
                <a:solidFill>
                  <a:srgbClr val="005000"/>
                </a:solidFill>
              </a:rPr>
              <a:t>Saves best to stgat_ft.keras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800600"/>
            <a:ext cx="11475720" cy="50292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800600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3366"/>
                </a:solidFill>
              </a:rPr>
              <a:t>Post-training:  Threshold θ = 0.687 selected on val set by maximising F1 over ROC curve  |  Also: balanced threshold maximising min(spec_normal, rec_Sybil, rec_timeDelay)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Results: Overall Performance on VeReMi NextGen Test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~33,925 test windows (vehicle-stratified 3-way split, θ = 0.687) — all project targets met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188720"/>
            <a:ext cx="182880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35331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0.9913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1188720"/>
            <a:ext cx="1828800" cy="1371600"/>
          </a:xfrm>
          <a:prstGeom prst="roundRect">
            <a:avLst/>
          </a:prstGeom>
          <a:solidFill>
            <a:srgbClr val="1F7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35331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0.9923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188720"/>
            <a:ext cx="1828800" cy="1371600"/>
          </a:xfrm>
          <a:prstGeom prst="round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35331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0.8699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MCC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1828800" cy="1371600"/>
          </a:xfrm>
          <a:prstGeom prst="round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35331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0.9886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188720"/>
            <a:ext cx="1828800" cy="1371600"/>
          </a:xfrm>
          <a:prstGeom prst="roundRect">
            <a:avLst/>
          </a:prstGeom>
          <a:solidFill>
            <a:srgbClr val="00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135331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0.9940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1188720"/>
            <a:ext cx="1828800" cy="1371600"/>
          </a:xfrm>
          <a:prstGeom prst="round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35331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23.4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Inference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20040" y="283464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98.38%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Normal Specificity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91.25%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Operating Threshold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0.687 (tuned on val set)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Attack Types 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14 /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Types with F1 ≥ 0.998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13 / 14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V2X latency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82828"/>
                          </a:solidFill>
                        </a:rPr>
                        <a:t>&lt; 100 ms 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5943600" y="2834640"/>
            <a:ext cx="5897880" cy="2468880"/>
          </a:xfrm>
          <a:prstGeom prst="roundRect">
            <a:avLst/>
          </a:prstGeom>
          <a:solidFill>
            <a:srgbClr val="FFF8DC"/>
          </a:solidFill>
          <a:ln w="3175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Why MCC = 0.8699 Matters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400" b="0">
                <a:solidFill>
                  <a:srgbClr val="282828"/>
                </a:solidFill>
              </a:rPr>
              <a:t>On a 93.6%-attack dataset: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400" b="0">
                <a:solidFill>
                  <a:srgbClr val="C00000"/>
                </a:solidFill>
              </a:rPr>
              <a:t>• "Always predict attack" baseline:</a:t>
            </a:r>
          </a:p>
          <a:p>
            <a:pPr algn="l"/>
            <a:r>
              <a:rPr sz="1400" b="1">
                <a:solidFill>
                  <a:srgbClr val="C00000"/>
                </a:solidFill>
              </a:rPr>
              <a:t>  Accuracy = 93.6%  F1 = 0.967  MCC = 0.000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400" b="0">
                <a:solidFill>
                  <a:srgbClr val="005000"/>
                </a:solidFill>
              </a:rPr>
              <a:t>• ST-GAT:</a:t>
            </a:r>
          </a:p>
          <a:p>
            <a:pPr algn="l"/>
            <a:r>
              <a:rPr sz="1400" b="1">
                <a:solidFill>
                  <a:srgbClr val="005000"/>
                </a:solidFill>
              </a:rPr>
              <a:t>  Accuracy = 98.4%  F1 = 0.991  MCC = 0.870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1">
                <a:solidFill>
                  <a:srgbClr val="003366"/>
                </a:solidFill>
              </a:rPr>
              <a:t>MCC = 0.870 proves genuine skill beyond</a:t>
            </a:r>
          </a:p>
          <a:p>
            <a:pPr algn="l"/>
            <a:r>
              <a:rPr sz="1300" b="0">
                <a:solidFill>
                  <a:srgbClr val="003366"/>
                </a:solidFill>
              </a:rPr>
              <a:t>exploiting the majority 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Training Convergence — Stage 1 &amp; Stage 2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Clean vehicle-stratified validation set provides reliable EarlyStopping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143000"/>
            <a:ext cx="7772400" cy="4480560"/>
          </a:xfrm>
          <a:prstGeom prst="rect">
            <a:avLst/>
          </a:prstGeom>
          <a:solidFill>
            <a:srgbClr val="D6E5F4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C8C8C"/>
                </a:solidFill>
              </a:rPr>
              <a:t>[ stgat_training_curves.png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188720"/>
            <a:ext cx="3337560" cy="13258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2×2 Layout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Row 1: Stage 1 accuracy + loss
Row 2: Stage 2 accuracy +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651760"/>
            <a:ext cx="3337560" cy="132588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Clean Validation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Val set = separate vehicle senders.
No overlapping windows with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114800"/>
            <a:ext cx="3337560" cy="1325880"/>
          </a:xfrm>
          <a:prstGeom prst="roundRect">
            <a:avLst/>
          </a:prstGeom>
          <a:solidFill>
            <a:srgbClr val="D2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Threshold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θ = 0.687 tuned on val set.
Optimises F1 across ROC curve.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Per-Attack-Type Detection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Threshold θ = 0.687 applied to all classes; all 14 attack types detected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143000"/>
          <a:ext cx="7772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Attack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 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accelerationMultiplication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constantPositionOffset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dataReplay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dosAttack</a:t>
                      </a:r>
                    </a:p>
                  </a:txBody>
                  <a:tcPr>
                    <a:solidFill>
                      <a:srgbClr val="E6F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0.9980</a:t>
                      </a:r>
                    </a:p>
                  </a:txBody>
                  <a:tcPr>
                    <a:solidFill>
                      <a:srgbClr val="E6F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0.9965</a:t>
                      </a:r>
                    </a:p>
                  </a:txBody>
                  <a:tcPr>
                    <a:solidFill>
                      <a:srgbClr val="E6F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E6F8E6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feignedBraking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NORMAL  (specificity)</a:t>
                      </a:r>
                    </a:p>
                  </a:txBody>
                  <a:tcPr>
                    <a:solidFill>
                      <a:srgbClr val="D2E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0.9125</a:t>
                      </a:r>
                    </a:p>
                  </a:txBody>
                  <a:tcPr>
                    <a:solidFill>
                      <a:srgbClr val="D2E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2E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2E1F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positionMirroring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randomPositionOffset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randomSpeedOffset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reversedHeading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suddenConstantSpeed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suddenStop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⚠ timeDelayAttack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0.9348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0.8776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trafficCongestionSybil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zeroSpeedReport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0.9990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82828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321040" y="1188720"/>
            <a:ext cx="3611880" cy="1463040"/>
          </a:xfrm>
          <a:prstGeom prst="roundRect">
            <a:avLst/>
          </a:prstGeom>
          <a:solidFill>
            <a:srgbClr val="C6EFCE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005000"/>
                </a:solidFill>
              </a:rPr>
              <a:t>13 / 14 Attack Types
Achieve F1 ≥ 0.998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0">
                <a:solidFill>
                  <a:srgbClr val="005000"/>
                </a:solidFill>
              </a:rPr>
              <a:t>Including the hardest:
• Sybil coordination
• dataReplay
• dosAttack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834640"/>
            <a:ext cx="3611880" cy="1645920"/>
          </a:xfrm>
          <a:prstGeom prst="roundRect">
            <a:avLst/>
          </a:prstGeom>
          <a:solidFill>
            <a:srgbClr val="FFEB9C"/>
          </a:solidFill>
          <a:ln w="25400">
            <a:solidFill>
              <a:srgbClr val="D2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963C00"/>
                </a:solidFill>
              </a:rPr>
              <a:t>timeDelayAttack  F1 = 0.9348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Recall: 0.8776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(was 0.14 without Stream D)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Precision: 1.000 — zero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false alarms for this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617720"/>
            <a:ext cx="3611880" cy="1097280"/>
          </a:xfrm>
          <a:prstGeom prst="roundRect">
            <a:avLst/>
          </a:prstGeom>
          <a:solidFill>
            <a:srgbClr val="D6E5F4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003366"/>
                </a:solidFill>
              </a:rPr>
              <a:t>Normal Specificity = 91.25%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l"/>
            <a:r>
              <a:rPr sz="1300" b="0">
                <a:solidFill>
                  <a:srgbClr val="282828"/>
                </a:solidFill>
              </a:rPr>
              <a:t>Threshold θ = 0.687 balances
attack recall vs false-alarm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Complete Two-Layer Security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9900"/>
                </a:solidFill>
              </a:rPr>
              <a:t>PQA-SCMS + ST-GAT provide disjoint, complementary coverage of the full V2X threat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0" y="274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0792"/>
            <a:ext cx="11914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5F4"/>
                </a:solidFill>
              </a:rPr>
              <a:t>E-JUST Graduation Project 2026  ●  AI/IDS: ST-GAT for V2X  ●  Mostafa Mohamed Atef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88720"/>
            <a:ext cx="11430000" cy="12801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Layer 1 — PQA-SCMS:  Post-Quantum Cryptographic Authentication  (Team's Work)</a:t>
            </a:r>
          </a:p>
          <a:p>
            <a:pPr algn="l"/>
            <a:r>
              <a:rPr sz="1300" b="0">
                <a:solidFill>
                  <a:srgbClr val="D6E5F4"/>
                </a:solidFill>
              </a:rPr>
              <a:t>Dilithium-2 certs  ·  ECDSA for CAMs  ·  Kyber-768 session keys  ·  100% replay &amp; forgery detection  ·  97.4% overhead reduction vs full-PQC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67044" y="2560320"/>
            <a:ext cx="54864" cy="27432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880360"/>
            <a:ext cx="11430000" cy="1280160"/>
          </a:xfrm>
          <a:prstGeom prst="roundRect">
            <a:avLst/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Layer 2 — ST-GAT IDS:  AI-Driven Behavioural Detection  (This Work)</a:t>
            </a:r>
          </a:p>
          <a:p>
            <a:pPr algn="l"/>
            <a:r>
              <a:rPr sz="1300" b="0">
                <a:solidFill>
                  <a:srgbClr val="FFC8C8"/>
                </a:solidFill>
              </a:rPr>
              <a:t>F1 = 0.9913  ·  MCC = 0.8699  ·  AUC = 0.9923  ·  14/14 attacks  ·  23.4 ms inference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29768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Attack Class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PQA-SCMS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ST-GAT (this work)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Key forgery / ECDSA break</a:t>
                      </a:r>
                    </a:p>
                  </a:txBody>
                  <a:tcPr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100%</a:t>
                      </a:r>
                    </a:p>
                  </a:txBody>
                  <a:tcPr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5F4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HNDL on enrollment certs</a:t>
                      </a:r>
                    </a:p>
                  </a:txBody>
                  <a:tcPr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Prevented</a:t>
                      </a:r>
                    </a:p>
                  </a:txBody>
                  <a:tcPr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5F4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Replay (invalid signature)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100%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F1 = 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Content falsification — position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—  Not detected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F1 = 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Content falsification — speed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—  Not detected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F1 = 0.9980–0.9995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Timing manipulation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—  Not detected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⚠  F1 = 0.9348</a:t>
                      </a:r>
                    </a:p>
                  </a:txBody>
                  <a:tcPr>
                    <a:solidFill>
                      <a:srgbClr val="FFEB9C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Sybil attacks (valid creds)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—  Not detected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F1 = 0.9995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DoS flooding (valid creds)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—  Not detected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</a:rPr>
                        <a:t>✔  F1 = 0.9980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2296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920240"/>
            <a:ext cx="576072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103120"/>
            <a:ext cx="9418320" cy="2377440"/>
          </a:xfrm>
          <a:prstGeom prst="roundRect">
            <a:avLst/>
          </a:prstGeom>
          <a:solidFill>
            <a:srgbClr val="002855"/>
          </a:solidFill>
          <a:ln w="3175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Mostafa Mohamed Atef  —  AI / Machine Learning Engineer</a:t>
            </a:r>
          </a:p>
          <a:p>
            <a:pPr algn="ctr"/>
            <a:r>
              <a:rPr sz="1500" b="0">
                <a:solidFill>
                  <a:srgbClr val="D6E5F4"/>
                </a:solidFill>
              </a:rPr>
              <a:t>Egypt-Japan University of Science and Technology (E-JUST)</a:t>
            </a:r>
          </a:p>
          <a:p>
            <a:pPr algn="ctr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000" b="1">
                <a:solidFill>
                  <a:srgbClr val="CC9900"/>
                </a:solidFill>
              </a:rPr>
              <a:t>ST-GAT IDS for V2X     F1 = 0.9913     MCC = 0.8699</a:t>
            </a:r>
          </a:p>
          <a:p>
            <a:pPr algn="ctr"/>
            <a:r>
              <a:rPr sz="1700" b="1">
                <a:solidFill>
                  <a:srgbClr val="D6E5F4"/>
                </a:solidFill>
              </a:rPr>
              <a:t>ROC-AUC = 0.9923       14 / 14 Attacks     23.4 ms inference</a:t>
            </a:r>
          </a:p>
          <a:p>
            <a:pPr algn="ctr"/>
            <a:r>
              <a:rPr sz="600" b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200" b="0">
                <a:solidFill>
                  <a:srgbClr val="8C8C8C"/>
                </a:solidFill>
              </a:rPr>
              <a:t>Code:  loss_increased.ipynb    |    Paper:  paper_stgat_ids.tex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634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C9900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